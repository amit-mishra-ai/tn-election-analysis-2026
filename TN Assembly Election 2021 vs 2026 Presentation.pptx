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nva Sans" charset="1" panose="020B0503030501040103"/>
      <p:regular r:id="rId18"/>
    </p:embeddedFont>
    <p:embeddedFont>
      <p:font typeface="Canva Sans Bold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31404" y="2753372"/>
            <a:ext cx="11779679" cy="6504928"/>
          </a:xfrm>
          <a:custGeom>
            <a:avLst/>
            <a:gdLst/>
            <a:ahLst/>
            <a:cxnLst/>
            <a:rect r="r" b="b" t="t" l="l"/>
            <a:pathLst>
              <a:path h="6504928" w="11779679">
                <a:moveTo>
                  <a:pt x="0" y="0"/>
                </a:moveTo>
                <a:lnTo>
                  <a:pt x="11779679" y="0"/>
                </a:lnTo>
                <a:lnTo>
                  <a:pt x="11779679" y="6504928"/>
                </a:lnTo>
                <a:lnTo>
                  <a:pt x="0" y="65049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153" r="-45361" b="-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2158" y="190811"/>
            <a:ext cx="10945105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3"/>
              </a:lnSpc>
            </a:pPr>
            <a:r>
              <a:rPr lang="en-US" sz="437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437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amil Nadu Assembly Election</a:t>
            </a:r>
          </a:p>
          <a:p>
            <a:pPr algn="l">
              <a:lnSpc>
                <a:spcPts val="5253"/>
              </a:lnSpc>
            </a:pPr>
            <a:r>
              <a:rPr lang="en-US" sz="437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2021 vs 2026</a:t>
            </a:r>
          </a:p>
          <a:p>
            <a:pPr algn="l">
              <a:lnSpc>
                <a:spcPts val="525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62158" y="1834775"/>
            <a:ext cx="1714590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9"/>
              </a:lnSpc>
            </a:pPr>
            <a:r>
              <a:rPr lang="en-US" sz="30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Decoding Tamil Nadu’s historic political realignment through interactive election analytics.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7098" y="9245550"/>
            <a:ext cx="7604583" cy="83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4"/>
              </a:lnSpc>
            </a:pPr>
            <a:r>
              <a:rPr lang="en-US" sz="24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Built Using:</a:t>
            </a:r>
          </a:p>
          <a:p>
            <a:pPr algn="ctr">
              <a:lnSpc>
                <a:spcPts val="3444"/>
              </a:lnSpc>
            </a:pPr>
            <a:r>
              <a:rPr lang="en-US" sz="24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Power BI · Python · Plotly · Streamlit · Claude AI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79393" y="9615427"/>
            <a:ext cx="4085157" cy="339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4"/>
              </a:lnSpc>
            </a:pPr>
            <a:r>
              <a:rPr lang="en-US" sz="194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Created By : Amit Kumar Mishra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33857" y="1808412"/>
            <a:ext cx="2606679" cy="1424019"/>
          </a:xfrm>
          <a:custGeom>
            <a:avLst/>
            <a:gdLst/>
            <a:ahLst/>
            <a:cxnLst/>
            <a:rect r="r" b="b" t="t" l="l"/>
            <a:pathLst>
              <a:path h="1424019" w="2606679">
                <a:moveTo>
                  <a:pt x="0" y="0"/>
                </a:moveTo>
                <a:lnTo>
                  <a:pt x="2606679" y="0"/>
                </a:lnTo>
                <a:lnTo>
                  <a:pt x="2606679" y="1424019"/>
                </a:lnTo>
                <a:lnTo>
                  <a:pt x="0" y="1424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33857" y="3403692"/>
            <a:ext cx="2606679" cy="1347521"/>
          </a:xfrm>
          <a:custGeom>
            <a:avLst/>
            <a:gdLst/>
            <a:ahLst/>
            <a:cxnLst/>
            <a:rect r="r" b="b" t="t" l="l"/>
            <a:pathLst>
              <a:path h="1347521" w="2606679">
                <a:moveTo>
                  <a:pt x="0" y="0"/>
                </a:moveTo>
                <a:lnTo>
                  <a:pt x="2606679" y="0"/>
                </a:lnTo>
                <a:lnTo>
                  <a:pt x="2606679" y="1347521"/>
                </a:lnTo>
                <a:lnTo>
                  <a:pt x="0" y="13475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33857" y="4922663"/>
            <a:ext cx="2606679" cy="1458784"/>
          </a:xfrm>
          <a:custGeom>
            <a:avLst/>
            <a:gdLst/>
            <a:ahLst/>
            <a:cxnLst/>
            <a:rect r="r" b="b" t="t" l="l"/>
            <a:pathLst>
              <a:path h="1458784" w="2606679">
                <a:moveTo>
                  <a:pt x="0" y="0"/>
                </a:moveTo>
                <a:lnTo>
                  <a:pt x="2606679" y="0"/>
                </a:lnTo>
                <a:lnTo>
                  <a:pt x="2606679" y="1458783"/>
                </a:lnTo>
                <a:lnTo>
                  <a:pt x="0" y="1458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333857" y="6552896"/>
            <a:ext cx="2606679" cy="1067251"/>
          </a:xfrm>
          <a:custGeom>
            <a:avLst/>
            <a:gdLst/>
            <a:ahLst/>
            <a:cxnLst/>
            <a:rect r="r" b="b" t="t" l="l"/>
            <a:pathLst>
              <a:path h="1067251" w="2606679">
                <a:moveTo>
                  <a:pt x="0" y="0"/>
                </a:moveTo>
                <a:lnTo>
                  <a:pt x="2606679" y="0"/>
                </a:lnTo>
                <a:lnTo>
                  <a:pt x="2606679" y="1067251"/>
                </a:lnTo>
                <a:lnTo>
                  <a:pt x="0" y="10672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76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07052" y="122055"/>
            <a:ext cx="10073897" cy="1348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</a:t>
            </a:r>
            <a:r>
              <a:rPr lang="en-US" b="true" sz="3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derstanding Tamil Nadu’s Political Transformation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2232" y="1751262"/>
            <a:ext cx="9732211" cy="1952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 :</a:t>
            </a:r>
          </a:p>
          <a:p>
            <a:pPr algn="ctr">
              <a:lnSpc>
                <a:spcPts val="3780"/>
              </a:lnSpc>
            </a:pPr>
            <a:r>
              <a:rPr lang="en-US" sz="2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2026 Tamil Nadu Assembly Election witnessed one of the most dramatic political transformations in recent history.</a:t>
            </a:r>
          </a:p>
          <a:p>
            <a:pPr algn="ctr">
              <a:lnSpc>
                <a:spcPts val="10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87037" y="4424376"/>
            <a:ext cx="7856963" cy="3847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project analyzes:</a:t>
            </a:r>
          </a:p>
          <a:p>
            <a:pPr algn="ctr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egional political shifts</a:t>
            </a:r>
          </a:p>
          <a:p>
            <a:pPr algn="ctr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onstituency flips</a:t>
            </a:r>
          </a:p>
          <a:p>
            <a:pPr algn="ctr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ote share redistribution</a:t>
            </a:r>
          </a:p>
          <a:p>
            <a:pPr algn="ctr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mergence of TVK as a dominant political force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1714" y="8700649"/>
            <a:ext cx="6183184" cy="1067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3"/>
              </a:lnSpc>
            </a:pPr>
          </a:p>
          <a:p>
            <a:pPr algn="l" marL="436895" indent="-218448" lvl="1">
              <a:lnSpc>
                <a:spcPts val="2833"/>
              </a:lnSpc>
              <a:buAutoNum type="arabicPeriod" startAt="1"/>
            </a:pP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ow 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did regional political dominance shift?</a:t>
            </a:r>
          </a:p>
          <a:p>
            <a:pPr algn="ctr">
              <a:lnSpc>
                <a:spcPts val="283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264897" y="8700649"/>
            <a:ext cx="7068960" cy="1067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</a:p>
          <a:p>
            <a:pPr algn="l" marL="436895" indent="-218448" lvl="1">
              <a:lnSpc>
                <a:spcPts val="2833"/>
              </a:lnSpc>
              <a:buAutoNum type="arabicPeriod" startAt="1"/>
            </a:pP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How 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many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uenc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 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nged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inn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ing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part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?</a:t>
            </a:r>
          </a:p>
          <a:p>
            <a:pPr algn="ctr">
              <a:lnSpc>
                <a:spcPts val="2833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333857" y="8700649"/>
            <a:ext cx="4954143" cy="1067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</a:p>
          <a:p>
            <a:pPr algn="l" marL="436895" indent="-218448" lvl="1">
              <a:lnSpc>
                <a:spcPts val="2833"/>
              </a:lnSpc>
              <a:buAutoNum type="arabicPeriod" startAt="1"/>
            </a:pP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Where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did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TVK’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 votes 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f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rom</a:t>
            </a:r>
            <a:r>
              <a:rPr lang="en-US" sz="20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?</a:t>
            </a:r>
          </a:p>
          <a:p>
            <a:pPr algn="ctr">
              <a:lnSpc>
                <a:spcPts val="2833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63869" y="915669"/>
            <a:ext cx="4938175" cy="9339339"/>
          </a:xfrm>
          <a:custGeom>
            <a:avLst/>
            <a:gdLst/>
            <a:ahLst/>
            <a:cxnLst/>
            <a:rect r="r" b="b" t="t" l="l"/>
            <a:pathLst>
              <a:path h="9339339" w="4938175">
                <a:moveTo>
                  <a:pt x="0" y="0"/>
                </a:moveTo>
                <a:lnTo>
                  <a:pt x="4938176" y="0"/>
                </a:lnTo>
                <a:lnTo>
                  <a:pt x="4938176" y="9339339"/>
                </a:lnTo>
                <a:lnTo>
                  <a:pt x="0" y="9339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8284" y="5353196"/>
            <a:ext cx="8210527" cy="4472401"/>
          </a:xfrm>
          <a:custGeom>
            <a:avLst/>
            <a:gdLst/>
            <a:ahLst/>
            <a:cxnLst/>
            <a:rect r="r" b="b" t="t" l="l"/>
            <a:pathLst>
              <a:path h="4472401" w="8210527">
                <a:moveTo>
                  <a:pt x="0" y="0"/>
                </a:moveTo>
                <a:lnTo>
                  <a:pt x="8210527" y="0"/>
                </a:lnTo>
                <a:lnTo>
                  <a:pt x="8210527" y="4472401"/>
                </a:lnTo>
                <a:lnTo>
                  <a:pt x="0" y="44724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09160" y="144158"/>
            <a:ext cx="9815850" cy="688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</a:t>
            </a:r>
            <a:r>
              <a:rPr lang="en-US" b="true" sz="4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Pipeline &amp; Analytical Workflow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8493" y="1256733"/>
            <a:ext cx="7848005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3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ataset Information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Election Commission of India (ECI)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2021 &amp; 2026 Assembly Elections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234 constituencies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 regional divisions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Constituency-level vote analysis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1575" y="1028700"/>
            <a:ext cx="15471984" cy="5941819"/>
          </a:xfrm>
          <a:custGeom>
            <a:avLst/>
            <a:gdLst/>
            <a:ahLst/>
            <a:cxnLst/>
            <a:rect r="r" b="b" t="t" l="l"/>
            <a:pathLst>
              <a:path h="5941819" w="15471984">
                <a:moveTo>
                  <a:pt x="0" y="0"/>
                </a:moveTo>
                <a:lnTo>
                  <a:pt x="15471985" y="0"/>
                </a:lnTo>
                <a:lnTo>
                  <a:pt x="15471985" y="5941819"/>
                </a:lnTo>
                <a:lnTo>
                  <a:pt x="0" y="5941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76" t="0" r="-137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1575" y="7113394"/>
            <a:ext cx="13191065" cy="2989210"/>
          </a:xfrm>
          <a:custGeom>
            <a:avLst/>
            <a:gdLst/>
            <a:ahLst/>
            <a:cxnLst/>
            <a:rect r="r" b="b" t="t" l="l"/>
            <a:pathLst>
              <a:path h="2989210" w="13191065">
                <a:moveTo>
                  <a:pt x="0" y="0"/>
                </a:moveTo>
                <a:lnTo>
                  <a:pt x="13191065" y="0"/>
                </a:lnTo>
                <a:lnTo>
                  <a:pt x="13191065" y="2989210"/>
                </a:lnTo>
                <a:lnTo>
                  <a:pt x="0" y="29892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15" t="0" r="-2615" b="-100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48601" y="43244"/>
            <a:ext cx="7256443" cy="688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Exploratory</a:t>
            </a:r>
            <a:r>
              <a:rPr lang="en-US" b="true" sz="4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Data Analysis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934" y="1457983"/>
            <a:ext cx="18011567" cy="7384743"/>
          </a:xfrm>
          <a:custGeom>
            <a:avLst/>
            <a:gdLst/>
            <a:ahLst/>
            <a:cxnLst/>
            <a:rect r="r" b="b" t="t" l="l"/>
            <a:pathLst>
              <a:path h="7384743" w="18011567">
                <a:moveTo>
                  <a:pt x="0" y="0"/>
                </a:moveTo>
                <a:lnTo>
                  <a:pt x="18011567" y="0"/>
                </a:lnTo>
                <a:lnTo>
                  <a:pt x="18011567" y="7384742"/>
                </a:lnTo>
                <a:lnTo>
                  <a:pt x="0" y="73847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5787" y="1028700"/>
            <a:ext cx="14092256" cy="8825275"/>
          </a:xfrm>
          <a:custGeom>
            <a:avLst/>
            <a:gdLst/>
            <a:ahLst/>
            <a:cxnLst/>
            <a:rect r="r" b="b" t="t" l="l"/>
            <a:pathLst>
              <a:path h="8825275" w="14092256">
                <a:moveTo>
                  <a:pt x="0" y="0"/>
                </a:moveTo>
                <a:lnTo>
                  <a:pt x="14092257" y="0"/>
                </a:lnTo>
                <a:lnTo>
                  <a:pt x="14092257" y="8825275"/>
                </a:lnTo>
                <a:lnTo>
                  <a:pt x="0" y="88252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47602" y="49148"/>
            <a:ext cx="11081198" cy="646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</a:t>
            </a:r>
            <a:r>
              <a:rPr lang="en-US" b="true" sz="3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active Election Intelligence Dashboard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320354" y="3337782"/>
            <a:ext cx="3967646" cy="356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4"/>
              </a:lnSpc>
            </a:pPr>
            <a:r>
              <a:rPr lang="en-US" sz="2567">
                <a:solidFill>
                  <a:srgbClr val="F9F9F9"/>
                </a:solidFill>
                <a:latin typeface="Canva Sans"/>
                <a:ea typeface="Canva Sans"/>
                <a:cs typeface="Canva Sans"/>
                <a:sym typeface="Canva Sans"/>
              </a:rPr>
              <a:t>Dashboar</a:t>
            </a:r>
            <a:r>
              <a:rPr lang="en-US" sz="2567">
                <a:solidFill>
                  <a:srgbClr val="F9F9F9"/>
                </a:solidFill>
                <a:latin typeface="Canva Sans"/>
                <a:ea typeface="Canva Sans"/>
                <a:cs typeface="Canva Sans"/>
                <a:sym typeface="Canva Sans"/>
              </a:rPr>
              <a:t>d Features</a:t>
            </a:r>
          </a:p>
          <a:p>
            <a:pPr algn="ctr" marL="554326" indent="-277163" lvl="1">
              <a:lnSpc>
                <a:spcPts val="3594"/>
              </a:lnSpc>
              <a:buFont typeface="Arial"/>
              <a:buChar char="•"/>
            </a:pPr>
            <a:r>
              <a:rPr lang="en-US" sz="2567">
                <a:solidFill>
                  <a:srgbClr val="F9F9F9"/>
                </a:solidFill>
                <a:latin typeface="Canva Sans"/>
                <a:ea typeface="Canva Sans"/>
                <a:cs typeface="Canva Sans"/>
                <a:sym typeface="Canva Sans"/>
              </a:rPr>
              <a:t>Interactive filtering</a:t>
            </a:r>
          </a:p>
          <a:p>
            <a:pPr algn="ctr" marL="554326" indent="-277163" lvl="1">
              <a:lnSpc>
                <a:spcPts val="3594"/>
              </a:lnSpc>
              <a:buFont typeface="Arial"/>
              <a:buChar char="•"/>
            </a:pPr>
            <a:r>
              <a:rPr lang="en-US" sz="2567">
                <a:solidFill>
                  <a:srgbClr val="F9F9F9"/>
                </a:solidFill>
                <a:latin typeface="Canva Sans"/>
                <a:ea typeface="Canva Sans"/>
                <a:cs typeface="Canva Sans"/>
                <a:sym typeface="Canva Sans"/>
              </a:rPr>
              <a:t>Comparative analysis</a:t>
            </a:r>
          </a:p>
          <a:p>
            <a:pPr algn="ctr" marL="554326" indent="-277163" lvl="1">
              <a:lnSpc>
                <a:spcPts val="3594"/>
              </a:lnSpc>
              <a:buFont typeface="Arial"/>
              <a:buChar char="•"/>
            </a:pPr>
            <a:r>
              <a:rPr lang="en-US" sz="2567">
                <a:solidFill>
                  <a:srgbClr val="F9F9F9"/>
                </a:solidFill>
                <a:latin typeface="Canva Sans"/>
                <a:ea typeface="Canva Sans"/>
                <a:cs typeface="Canva Sans"/>
                <a:sym typeface="Canva Sans"/>
              </a:rPr>
              <a:t>Regional drilldowns</a:t>
            </a:r>
          </a:p>
          <a:p>
            <a:pPr algn="ctr" marL="554326" indent="-277163" lvl="1">
              <a:lnSpc>
                <a:spcPts val="3594"/>
              </a:lnSpc>
              <a:buFont typeface="Arial"/>
              <a:buChar char="•"/>
            </a:pPr>
            <a:r>
              <a:rPr lang="en-US" sz="2567">
                <a:solidFill>
                  <a:srgbClr val="F9F9F9"/>
                </a:solidFill>
                <a:latin typeface="Canva Sans"/>
                <a:ea typeface="Canva Sans"/>
                <a:cs typeface="Canva Sans"/>
                <a:sym typeface="Canva Sans"/>
              </a:rPr>
              <a:t>Constituency-level insights</a:t>
            </a:r>
          </a:p>
          <a:p>
            <a:pPr algn="ctr" marL="554326" indent="-277163" lvl="1">
              <a:lnSpc>
                <a:spcPts val="3594"/>
              </a:lnSpc>
              <a:buFont typeface="Arial"/>
              <a:buChar char="•"/>
            </a:pPr>
            <a:r>
              <a:rPr lang="en-US" sz="2567">
                <a:solidFill>
                  <a:srgbClr val="F9F9F9"/>
                </a:solidFill>
                <a:latin typeface="Canva Sans"/>
                <a:ea typeface="Canva Sans"/>
                <a:cs typeface="Canva Sans"/>
                <a:sym typeface="Canva Sans"/>
              </a:rPr>
              <a:t>Multi-page navigation</a:t>
            </a:r>
          </a:p>
          <a:p>
            <a:pPr algn="ctr">
              <a:lnSpc>
                <a:spcPts val="359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8852" y="1028700"/>
            <a:ext cx="16637807" cy="5110142"/>
          </a:xfrm>
          <a:custGeom>
            <a:avLst/>
            <a:gdLst/>
            <a:ahLst/>
            <a:cxnLst/>
            <a:rect r="r" b="b" t="t" l="l"/>
            <a:pathLst>
              <a:path h="5110142" w="16637807">
                <a:moveTo>
                  <a:pt x="0" y="0"/>
                </a:moveTo>
                <a:lnTo>
                  <a:pt x="16637807" y="0"/>
                </a:lnTo>
                <a:lnTo>
                  <a:pt x="16637807" y="5110142"/>
                </a:lnTo>
                <a:lnTo>
                  <a:pt x="0" y="51101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67" t="0" r="-76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93332" y="5921522"/>
            <a:ext cx="6065968" cy="4361699"/>
          </a:xfrm>
          <a:custGeom>
            <a:avLst/>
            <a:gdLst/>
            <a:ahLst/>
            <a:cxnLst/>
            <a:rect r="r" b="b" t="t" l="l"/>
            <a:pathLst>
              <a:path h="4361699" w="6065968">
                <a:moveTo>
                  <a:pt x="0" y="0"/>
                </a:moveTo>
                <a:lnTo>
                  <a:pt x="6065968" y="0"/>
                </a:lnTo>
                <a:lnTo>
                  <a:pt x="6065968" y="4361699"/>
                </a:lnTo>
                <a:lnTo>
                  <a:pt x="0" y="43616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26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65610" y="72267"/>
            <a:ext cx="6432557" cy="681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1"/>
              </a:lnSpc>
            </a:pPr>
            <a:r>
              <a:rPr lang="en-US" sz="392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</a:t>
            </a:r>
            <a:r>
              <a:rPr lang="en-US" b="true" sz="392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Geographic Story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1770" y="6326429"/>
            <a:ext cx="8565986" cy="186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2"/>
              </a:lnSpc>
            </a:pPr>
            <a:r>
              <a:rPr lang="en-US" sz="265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Insights</a:t>
            </a:r>
          </a:p>
          <a:p>
            <a:pPr algn="l" marL="574090" indent="-287045" lvl="1">
              <a:lnSpc>
                <a:spcPts val="3722"/>
              </a:lnSpc>
              <a:buFont typeface="Arial"/>
              <a:buChar char="•"/>
            </a:pPr>
            <a:r>
              <a:rPr lang="en-US" sz="26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Chennai Metro recor</a:t>
            </a:r>
            <a:r>
              <a:rPr lang="en-US" sz="26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ded highest political churn</a:t>
            </a:r>
          </a:p>
          <a:p>
            <a:pPr algn="l" marL="574090" indent="-287045" lvl="1">
              <a:lnSpc>
                <a:spcPts val="3722"/>
              </a:lnSpc>
              <a:buFont typeface="Arial"/>
              <a:buChar char="•"/>
            </a:pPr>
            <a:r>
              <a:rPr lang="en-US" sz="26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TVK dominated urban regions</a:t>
            </a:r>
          </a:p>
          <a:p>
            <a:pPr algn="ctr">
              <a:lnSpc>
                <a:spcPts val="372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91770" y="7795092"/>
            <a:ext cx="7992595" cy="913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869" indent="-284934" lvl="1">
              <a:lnSpc>
                <a:spcPts val="3695"/>
              </a:lnSpc>
              <a:buFont typeface="Arial"/>
              <a:buChar char="•"/>
            </a:pPr>
            <a:r>
              <a:rPr lang="en-US" sz="26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Delta remained comparatively stable</a:t>
            </a:r>
          </a:p>
          <a:p>
            <a:pPr algn="l" marL="569869" indent="-284934" lvl="1">
              <a:lnSpc>
                <a:spcPts val="3695"/>
              </a:lnSpc>
              <a:buFont typeface="Arial"/>
              <a:buChar char="•"/>
            </a:pPr>
            <a:r>
              <a:rPr lang="en-US" sz="26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Kongu witnessed AIADMK collapse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7701" y="9201150"/>
            <a:ext cx="10115453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2026 election reflected a state-wide political realignment rather than isolated regional swings.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586" y="732205"/>
            <a:ext cx="15032036" cy="6858367"/>
          </a:xfrm>
          <a:custGeom>
            <a:avLst/>
            <a:gdLst/>
            <a:ahLst/>
            <a:cxnLst/>
            <a:rect r="r" b="b" t="t" l="l"/>
            <a:pathLst>
              <a:path h="6858367" w="15032036">
                <a:moveTo>
                  <a:pt x="0" y="0"/>
                </a:moveTo>
                <a:lnTo>
                  <a:pt x="15032036" y="0"/>
                </a:lnTo>
                <a:lnTo>
                  <a:pt x="15032036" y="6858367"/>
                </a:lnTo>
                <a:lnTo>
                  <a:pt x="0" y="6858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586" y="7778747"/>
            <a:ext cx="17757546" cy="2508253"/>
          </a:xfrm>
          <a:custGeom>
            <a:avLst/>
            <a:gdLst/>
            <a:ahLst/>
            <a:cxnLst/>
            <a:rect r="r" b="b" t="t" l="l"/>
            <a:pathLst>
              <a:path h="2508253" w="17757546">
                <a:moveTo>
                  <a:pt x="0" y="0"/>
                </a:moveTo>
                <a:lnTo>
                  <a:pt x="17757546" y="0"/>
                </a:lnTo>
                <a:lnTo>
                  <a:pt x="17757546" y="2508253"/>
                </a:lnTo>
                <a:lnTo>
                  <a:pt x="0" y="250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76371" y="62294"/>
            <a:ext cx="6780772" cy="61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Massive</a:t>
            </a:r>
            <a:r>
              <a:rPr lang="en-US" b="true" sz="3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Political Churn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93622" y="1104296"/>
            <a:ext cx="3094378" cy="605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4091" indent="-287045" lvl="1">
              <a:lnSpc>
                <a:spcPts val="3722"/>
              </a:lnSpc>
              <a:buFont typeface="Arial"/>
              <a:buChar char="•"/>
            </a:pPr>
            <a:r>
              <a:rPr lang="en-US" sz="26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65 seats shifted directly from DMK to TVK.</a:t>
            </a:r>
          </a:p>
          <a:p>
            <a:pPr algn="l" marL="574091" indent="-287045" lvl="1">
              <a:lnSpc>
                <a:spcPts val="3722"/>
              </a:lnSpc>
              <a:buFont typeface="Arial"/>
              <a:buChar char="•"/>
            </a:pPr>
            <a:r>
              <a:rPr lang="en-US" sz="26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Nearly 7 out of 10 constituencies changed control.</a:t>
            </a:r>
          </a:p>
          <a:p>
            <a:pPr algn="l" marL="574091" indent="-287045" lvl="1">
              <a:lnSpc>
                <a:spcPts val="3722"/>
              </a:lnSpc>
              <a:buFont typeface="Arial"/>
              <a:buChar char="•"/>
            </a:pPr>
            <a:r>
              <a:rPr lang="en-US" sz="26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Anti-incumbency became state-wide.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879" y="758812"/>
            <a:ext cx="8031395" cy="5878433"/>
          </a:xfrm>
          <a:custGeom>
            <a:avLst/>
            <a:gdLst/>
            <a:ahLst/>
            <a:cxnLst/>
            <a:rect r="r" b="b" t="t" l="l"/>
            <a:pathLst>
              <a:path h="5878433" w="8031395">
                <a:moveTo>
                  <a:pt x="0" y="0"/>
                </a:moveTo>
                <a:lnTo>
                  <a:pt x="8031395" y="0"/>
                </a:lnTo>
                <a:lnTo>
                  <a:pt x="8031395" y="5878433"/>
                </a:lnTo>
                <a:lnTo>
                  <a:pt x="0" y="5878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87274" y="758812"/>
            <a:ext cx="9998763" cy="4260256"/>
          </a:xfrm>
          <a:custGeom>
            <a:avLst/>
            <a:gdLst/>
            <a:ahLst/>
            <a:cxnLst/>
            <a:rect r="r" b="b" t="t" l="l"/>
            <a:pathLst>
              <a:path h="4260256" w="9998763">
                <a:moveTo>
                  <a:pt x="0" y="0"/>
                </a:moveTo>
                <a:lnTo>
                  <a:pt x="9998763" y="0"/>
                </a:lnTo>
                <a:lnTo>
                  <a:pt x="9998763" y="4260256"/>
                </a:lnTo>
                <a:lnTo>
                  <a:pt x="0" y="42602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062" t="0" r="-1812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13583" y="6103823"/>
            <a:ext cx="9874417" cy="4183177"/>
          </a:xfrm>
          <a:custGeom>
            <a:avLst/>
            <a:gdLst/>
            <a:ahLst/>
            <a:cxnLst/>
            <a:rect r="r" b="b" t="t" l="l"/>
            <a:pathLst>
              <a:path h="4183177" w="9874417">
                <a:moveTo>
                  <a:pt x="0" y="0"/>
                </a:moveTo>
                <a:lnTo>
                  <a:pt x="9874417" y="0"/>
                </a:lnTo>
                <a:lnTo>
                  <a:pt x="9874417" y="4183177"/>
                </a:lnTo>
                <a:lnTo>
                  <a:pt x="0" y="4183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98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45933" y="-66675"/>
            <a:ext cx="8881909" cy="58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Where Di</a:t>
            </a:r>
            <a:r>
              <a:rPr lang="en-US" b="true" sz="3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TVK’s Votes Come From?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5879" y="6580095"/>
            <a:ext cx="8031395" cy="262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TVK absorbed votes from both DMK and </a:t>
            </a: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AIADMK</a:t>
            </a:r>
          </a:p>
          <a:p>
            <a:pPr algn="ctr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155 constituencies showed dual-party decline</a:t>
            </a:r>
          </a:p>
          <a:p>
            <a:pPr algn="ctr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Urban youth mobilization significantly increased turnout</a:t>
            </a:r>
          </a:p>
          <a:p>
            <a:pPr algn="ctr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Chennai Metro became TVK’s strongest zone</a:t>
            </a:r>
          </a:p>
          <a:p>
            <a:pPr algn="ctr">
              <a:lnSpc>
                <a:spcPts val="35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55879" y="9307419"/>
            <a:ext cx="8031395" cy="7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TVK consoli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dated anti-incumbent sentiment across multiple voter blocs rather than cannibalizing a single party base.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03657" y="925481"/>
            <a:ext cx="13930645" cy="5502605"/>
          </a:xfrm>
          <a:custGeom>
            <a:avLst/>
            <a:gdLst/>
            <a:ahLst/>
            <a:cxnLst/>
            <a:rect r="r" b="b" t="t" l="l"/>
            <a:pathLst>
              <a:path h="5502605" w="13930645">
                <a:moveTo>
                  <a:pt x="0" y="0"/>
                </a:moveTo>
                <a:lnTo>
                  <a:pt x="13930645" y="0"/>
                </a:lnTo>
                <a:lnTo>
                  <a:pt x="13930645" y="5502605"/>
                </a:lnTo>
                <a:lnTo>
                  <a:pt x="0" y="55026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57753" y="6428086"/>
            <a:ext cx="13222452" cy="3612621"/>
          </a:xfrm>
          <a:custGeom>
            <a:avLst/>
            <a:gdLst/>
            <a:ahLst/>
            <a:cxnLst/>
            <a:rect r="r" b="b" t="t" l="l"/>
            <a:pathLst>
              <a:path h="3612621" w="13222452">
                <a:moveTo>
                  <a:pt x="0" y="0"/>
                </a:moveTo>
                <a:lnTo>
                  <a:pt x="13222452" y="0"/>
                </a:lnTo>
                <a:lnTo>
                  <a:pt x="13222452" y="3612621"/>
                </a:lnTo>
                <a:lnTo>
                  <a:pt x="0" y="3612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65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71770" y="71186"/>
            <a:ext cx="8834174" cy="596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Intensity</a:t>
            </a: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of the 2026 Election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72197" y="358789"/>
            <a:ext cx="8533976" cy="58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</a:t>
            </a:r>
            <a:r>
              <a:rPr lang="en-US" b="true" sz="3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Future of Tamil Nadu Politics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67342" y="1396288"/>
            <a:ext cx="3935810" cy="448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TAKEAWAYS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4201" y="2301707"/>
            <a:ext cx="7734062" cy="104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Geographic Shift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State-wide regional realignment occurred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49487" y="2298378"/>
            <a:ext cx="639949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Historic Flip Rate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163 constituencies changed hands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3291" y="3955721"/>
            <a:ext cx="8034972" cy="1581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Collapse of Legacy Vote Banks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DMK and AIADMK both saw double-digit decline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3955721"/>
            <a:ext cx="8692753" cy="104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Rise of TVK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TVK emerged as a dominant new political force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678783"/>
            <a:ext cx="16230600" cy="104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2026 Tamil Nadu Assembly Election represents a structural political transition rather than a routine electoral cycle.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9411371"/>
            <a:ext cx="6409849" cy="70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Built Using: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Power BI · Python · Plotly · Streamlit · Claude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80126" y="9763782"/>
            <a:ext cx="3930968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Created By : Amit Kumar Mishra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27830" y="3122902"/>
            <a:ext cx="11514177" cy="252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18"/>
              </a:lnSpc>
            </a:pPr>
            <a:r>
              <a:rPr lang="en-US" sz="1479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DAHKpMa1_0g</dc:identifier>
  <dcterms:modified xsi:type="dcterms:W3CDTF">2011-08-01T06:04:30Z</dcterms:modified>
  <cp:revision>1</cp:revision>
  <dc:title>Tamil Nadu Assembly Election 2021 vs 2026</dc:title>
</cp:coreProperties>
</file>